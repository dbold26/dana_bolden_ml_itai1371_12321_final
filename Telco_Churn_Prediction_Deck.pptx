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3B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AD-4A9F-9626-69FEAB24EC11}"/>
              </c:ext>
            </c:extLst>
          </c:dPt>
          <c:dPt>
            <c:idx val="1"/>
            <c:bubble3D val="0"/>
            <c:spPr>
              <a:solidFill>
                <a:srgbClr val="141A47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AD-4A9F-9626-69FEAB24EC11}"/>
              </c:ext>
            </c:extLst>
          </c:dPt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94.5</c:v>
                </c:pt>
                <c:pt idx="1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AD-4A9F-9626-69FEAB24EC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1" i="0" u="none" strike="noStrike">
                <a:solidFill>
                  <a:srgbClr val="1E2761"/>
                </a:solidFill>
                <a:latin typeface="Calibri"/>
              </a:rPr>
              <a:t>Validation vs. Test ROC-AUC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Grad.
Boosting</c:v>
                </c:pt>
                <c:pt idx="1">
                  <c:v>Rand. Forest
(Tuned)</c:v>
                </c:pt>
                <c:pt idx="2">
                  <c:v>SVC</c:v>
                </c:pt>
                <c:pt idx="3">
                  <c:v>Logistic
Regression</c:v>
                </c:pt>
                <c:pt idx="4">
                  <c:v>KNN</c:v>
                </c:pt>
                <c:pt idx="5">
                  <c:v>Decision
Tree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0.97299999999999998</c:v>
                </c:pt>
                <c:pt idx="1">
                  <c:v>0.93700000000000006</c:v>
                </c:pt>
                <c:pt idx="2">
                  <c:v>0.93300000000000005</c:v>
                </c:pt>
                <c:pt idx="3">
                  <c:v>0.91700000000000004</c:v>
                </c:pt>
                <c:pt idx="4">
                  <c:v>0.86299999999999999</c:v>
                </c:pt>
                <c:pt idx="5">
                  <c:v>0.82799999999999996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8-4893-BA28-CA866AE617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Grad.
Boosting</c:v>
                </c:pt>
                <c:pt idx="1">
                  <c:v>Rand. Forest
(Tuned)</c:v>
                </c:pt>
                <c:pt idx="2">
                  <c:v>SVC</c:v>
                </c:pt>
                <c:pt idx="3">
                  <c:v>Logistic
Regression</c:v>
                </c:pt>
                <c:pt idx="4">
                  <c:v>KNN</c:v>
                </c:pt>
                <c:pt idx="5">
                  <c:v>Decision
Tree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0.95499999999999996</c:v>
                </c:pt>
                <c:pt idx="1">
                  <c:v>0.92900000000000005</c:v>
                </c:pt>
                <c:pt idx="2">
                  <c:v>0.92700000000000005</c:v>
                </c:pt>
                <c:pt idx="3">
                  <c:v>0.91200000000000003</c:v>
                </c:pt>
                <c:pt idx="4">
                  <c:v>0.85799999999999998</c:v>
                </c:pt>
                <c:pt idx="5">
                  <c:v>0.79700000000000004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8-4893-BA28-CA866AE617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12700" cap="flat">
              <a:solidFill>
                <a:srgbClr val="E8E8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2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Pipeline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leak-free machine learning pipeline built to flag at-risk customers before they churn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097280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Bolden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596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1371 – 12321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046720" y="155448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8046720" y="28620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046720" y="3703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5559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Soft Voting Ensemble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 &amp; Key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035040" cy="4617720"/>
          </a:xfrm>
          <a:prstGeom prst="roundRect">
            <a:avLst>
              <a:gd name="adj" fmla="val 237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5156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3774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end-to-end, leak-free machine learning pipeline that predicts customer churn from real behavioral signals, not surface-level unit conversions.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84048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 engineering and ensemble modeling turn raw account, usage, and billing data into an early-warning signal the business can act on,  before a customer cancels, not after.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9516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698" y="178673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15087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3,333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55280" y="203911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analyzed end to end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995160" y="3200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698" y="338693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3108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955280" y="363931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TotalRevenue data corruption fixed pre-modeling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995160" y="48006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698" y="49871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47091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955280" y="523951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 via Soft Voting Ensemble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&amp; Leakage Prevention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60120" y="173736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96" y="1908536"/>
            <a:ext cx="370881" cy="3708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58775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0120" y="2953512"/>
            <a:ext cx="2898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 hidden string-space corruption in TotalRevenue before it could explode the feature space through One-Hot Encoding.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41732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56" y="1908536"/>
            <a:ext cx="370881" cy="3708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8775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754880" y="2953512"/>
            <a:ext cx="2898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multi-column behavioral metrics ,  Total_AddOn_Services and </a:t>
            </a:r>
            <a:r>
              <a:rPr lang="en-US" sz="1250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Total_Calls_All_Types</a:t>
            </a: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 to capture real customer engagement.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41732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8549640" y="173736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16" y="1908536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258775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Rigor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549640" y="2953512"/>
            <a:ext cx="2898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70/15/15 stratified split. SMOTE and feature scaling were fit only inside the training partition.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 / 15 / 15 SPLIT ,  CHURN RATE HELD CONSTANT ACROSS ALL THREE SETS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6634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822960" y="482803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- Train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2960" y="52578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Scaling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here only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3941064" y="5244084"/>
            <a:ext cx="457200" cy="256032"/>
          </a:xfrm>
          <a:prstGeom prst="rightArrow">
            <a:avLst/>
          </a:prstGeom>
          <a:solidFill>
            <a:srgbClr val="C9CF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4453128" y="46634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4636008" y="482803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- Validation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4636008" y="52578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distribution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754112" y="5244084"/>
            <a:ext cx="457200" cy="256032"/>
          </a:xfrm>
          <a:prstGeom prst="rightArrow">
            <a:avLst/>
          </a:prstGeom>
          <a:solidFill>
            <a:srgbClr val="C9CF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8266176" y="46634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8449056" y="482803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- Test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8449056" y="52578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holdout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&amp;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base classifiers trained on SMOTE-balanced data — Logistic Regression, Decision Tree, Random Forest (tuned), Gradient Boosting, KNN, and SVC.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788920" cy="4617720"/>
          </a:xfrm>
          <a:prstGeom prst="roundRect">
            <a:avLst>
              <a:gd name="adj" fmla="val 393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600200" y="21945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683" y="24030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22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80160" y="4572000"/>
            <a:ext cx="1508760" cy="0"/>
          </a:xfrm>
          <a:prstGeom prst="line">
            <a:avLst/>
          </a:prstGeom>
          <a:noFill/>
          <a:ln w="12700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22960" y="5184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ROC-AUC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5577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93.6%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22960" y="60076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657600" y="1783080"/>
          <a:ext cx="7909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Winner &amp;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1691640"/>
            <a:ext cx="960120" cy="960120"/>
          </a:xfrm>
          <a:prstGeom prst="ellipse">
            <a:avLst/>
          </a:prstGeom>
          <a:solidFill>
            <a:srgbClr val="141A47"/>
          </a:solidFill>
          <a:ln w="12700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270662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331720" y="1691640"/>
            <a:ext cx="960120" cy="960120"/>
          </a:xfrm>
          <a:prstGeom prst="ellipse">
            <a:avLst/>
          </a:prstGeom>
          <a:solidFill>
            <a:srgbClr val="141A47"/>
          </a:solidFill>
          <a:ln w="12700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194560" y="270662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03320" y="1691640"/>
            <a:ext cx="960120" cy="960120"/>
          </a:xfrm>
          <a:prstGeom prst="ellipse">
            <a:avLst/>
          </a:prstGeom>
          <a:solidFill>
            <a:srgbClr val="141A47"/>
          </a:solidFill>
          <a:ln w="12700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566160" y="270662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40180" y="2651760"/>
            <a:ext cx="1947672" cy="1051560"/>
          </a:xfrm>
          <a:prstGeom prst="line">
            <a:avLst/>
          </a:prstGeom>
          <a:noFill/>
          <a:ln w="15875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811780" y="2651760"/>
            <a:ext cx="576072" cy="1051560"/>
          </a:xfrm>
          <a:prstGeom prst="line">
            <a:avLst/>
          </a:prstGeom>
          <a:noFill/>
          <a:ln w="15875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H="1">
            <a:off x="3387852" y="2651760"/>
            <a:ext cx="795528" cy="1051560"/>
          </a:xfrm>
          <a:prstGeom prst="line">
            <a:avLst/>
          </a:prstGeom>
          <a:noFill/>
          <a:ln w="15875">
            <a:solidFill>
              <a:srgbClr val="3C46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24912" y="3703320"/>
            <a:ext cx="1325880" cy="13258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382" y="3961638"/>
            <a:ext cx="662940" cy="6629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21992" y="508406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56235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the predicted probabilities of the top three validation models, spreading risk across three different model families instead of betting on one.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806440" y="16916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806440" y="18745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5806440" y="26974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06440" y="30632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Soft Voting Ensemble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778240" y="16916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778240" y="18745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0.705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778240" y="26974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F1-Score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778240" y="30632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strictly held-out data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806440" y="3886200"/>
            <a:ext cx="5760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172200" y="42336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398264"/>
            <a:ext cx="356616" cy="35661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40880" y="42702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040880" y="459943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can flag high-risk customers early and route retention offers to the accounts that actually need them, instead of discounting the whole base.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172200" y="5486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deployed Gradient Boosting model scores marginally higher (0.955 AUC); the ensemble is the safer choice for production.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384</Words>
  <Application>Microsoft Office PowerPoint</Application>
  <PresentationFormat>Widescreen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Brandon Pohlman</cp:lastModifiedBy>
  <cp:revision>2</cp:revision>
  <dcterms:created xsi:type="dcterms:W3CDTF">2026-08-07T22:42:42Z</dcterms:created>
  <dcterms:modified xsi:type="dcterms:W3CDTF">2026-08-07T22:46:01Z</dcterms:modified>
</cp:coreProperties>
</file>